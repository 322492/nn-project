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2" r:id="rId6"/>
    <p:sldId id="268" r:id="rId7"/>
    <p:sldId id="269" r:id="rId8"/>
    <p:sldId id="270" r:id="rId9"/>
    <p:sldId id="264" r:id="rId10"/>
    <p:sldId id="259" r:id="rId11"/>
    <p:sldId id="265" r:id="rId12"/>
    <p:sldId id="261" r:id="rId13"/>
    <p:sldId id="260" r:id="rId14"/>
    <p:sldId id="267" r:id="rId15"/>
    <p:sldId id="266" r:id="rId16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386BBB-546E-E280-8941-31A464E0BC90}" v="517" dt="2026-06-16T16:41:50.601"/>
    <p1510:client id="{4AEE0EC7-6FF1-5A5D-A2D2-0F9BEA7C9A2A}" v="848" dt="2026-06-16T16:03:31.2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16.06.2026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1757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16.06.2026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7380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16.06.2026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23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16.06.2026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8303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16.06.2026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1808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16.06.2026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44797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16.06.2026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083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16.06.2026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5530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16.06.2026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490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16.06.2026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54508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16.06.2026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038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8AA868-8872-43E4-8C98-D34DABD1FD38}" type="datetimeFigureOut">
              <a:rPr lang="pl-PL" smtClean="0"/>
              <a:t>16.06.2026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26633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ypi.org/project/ImageHash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22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image" Target="../media/image24.jpeg"/><Relationship Id="rId7" Type="http://schemas.openxmlformats.org/officeDocument/2006/relationships/image" Target="../media/image28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>
                <a:ea typeface="+mj-lt"/>
                <a:cs typeface="+mj-lt"/>
              </a:rPr>
              <a:t>Animal Detection in Camera Trap Images 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-1389185" y="5208099"/>
            <a:ext cx="9144000" cy="5303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Kamila Korczyńska, Kamil Tasarz</a:t>
            </a:r>
          </a:p>
        </p:txBody>
      </p:sp>
    </p:spTree>
    <p:extLst>
      <p:ext uri="{BB962C8B-B14F-4D97-AF65-F5344CB8AC3E}">
        <p14:creationId xmlns:p14="http://schemas.microsoft.com/office/powerpoint/2010/main" val="65031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1CDE12E-1B1D-EAEA-9B72-3DD406899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err="1"/>
              <a:t>Przypomnienie</a:t>
            </a:r>
            <a:r>
              <a:rPr lang="en-US" sz="5000"/>
              <a:t> </a:t>
            </a:r>
            <a:r>
              <a:rPr lang="en-US" sz="5000" err="1"/>
              <a:t>tematu</a:t>
            </a:r>
            <a:r>
              <a:rPr lang="en-US" sz="5000"/>
              <a:t> </a:t>
            </a:r>
            <a:r>
              <a:rPr lang="en-US" sz="5000" err="1"/>
              <a:t>projektu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034BD8D9-301E-46AE-B46F-BF53934F67CF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err="1"/>
              <a:t>Chcemy</a:t>
            </a:r>
            <a:r>
              <a:rPr lang="en-US" sz="2200"/>
              <a:t> </a:t>
            </a:r>
            <a:r>
              <a:rPr lang="en-US" sz="2200" err="1"/>
              <a:t>stworzyć</a:t>
            </a:r>
            <a:r>
              <a:rPr lang="en-US" sz="2200"/>
              <a:t> model object detection </a:t>
            </a:r>
            <a:r>
              <a:rPr lang="en-US" sz="2200" err="1"/>
              <a:t>który</a:t>
            </a:r>
            <a:r>
              <a:rPr lang="en-US" sz="2200"/>
              <a:t> </a:t>
            </a:r>
            <a:r>
              <a:rPr lang="en-US" sz="2200" err="1"/>
              <a:t>będzie</a:t>
            </a:r>
            <a:r>
              <a:rPr lang="en-US" sz="2200"/>
              <a:t> </a:t>
            </a:r>
            <a:r>
              <a:rPr lang="en-US" sz="2200" err="1"/>
              <a:t>znajdował</a:t>
            </a:r>
            <a:r>
              <a:rPr lang="en-US" sz="2200"/>
              <a:t> </a:t>
            </a:r>
            <a:r>
              <a:rPr lang="en-US" sz="2200" err="1"/>
              <a:t>zwierzęta</a:t>
            </a:r>
            <a:r>
              <a:rPr lang="en-US" sz="2200"/>
              <a:t> </a:t>
            </a:r>
            <a:r>
              <a:rPr lang="en-US" sz="2200" err="1"/>
              <a:t>na</a:t>
            </a:r>
            <a:r>
              <a:rPr lang="en-US" sz="2200"/>
              <a:t> </a:t>
            </a:r>
            <a:r>
              <a:rPr lang="en-US" sz="2200" err="1"/>
              <a:t>zdjęcia</a:t>
            </a:r>
            <a:r>
              <a:rPr lang="en-US" sz="2200"/>
              <a:t> z </a:t>
            </a:r>
            <a:r>
              <a:rPr lang="en-US" sz="2200" err="1"/>
              <a:t>fotopułapek</a:t>
            </a:r>
            <a:endParaRPr lang="en-US" sz="220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/>
              <a:t>(bez </a:t>
            </a:r>
            <a:r>
              <a:rPr lang="en-US" sz="2200" err="1"/>
              <a:t>klasyfikacji</a:t>
            </a:r>
            <a:r>
              <a:rPr lang="en-US" sz="2200"/>
              <a:t> ich </a:t>
            </a:r>
            <a:r>
              <a:rPr lang="en-US" sz="2200" err="1"/>
              <a:t>gatunków</a:t>
            </a:r>
            <a:r>
              <a:rPr lang="en-US" sz="2200"/>
              <a:t>)</a:t>
            </a:r>
          </a:p>
        </p:txBody>
      </p:sp>
      <p:pic>
        <p:nvPicPr>
          <p:cNvPr id="4" name="Symbol zastępczy zawartości 3" descr="Obraz zawierający ssak, tekst, zrzut ekranu, drzewo&#10;&#10;Zawartość wygenerowana przez AI może być niepoprawna.">
            <a:extLst>
              <a:ext uri="{FF2B5EF4-FFF2-40B4-BE49-F238E27FC236}">
                <a16:creationId xmlns:a16="http://schemas.microsoft.com/office/drawing/2014/main" id="{89E0F1A4-4E70-9DD2-F5DA-29D7C45175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800" r="16473" b="-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3" name="pole tekstowe 2">
            <a:extLst>
              <a:ext uri="{FF2B5EF4-FFF2-40B4-BE49-F238E27FC236}">
                <a16:creationId xmlns:a16="http://schemas.microsoft.com/office/drawing/2014/main" id="{63106CDD-F40C-7E08-1DDD-A1D27DF79A70}"/>
              </a:ext>
            </a:extLst>
          </p:cNvPr>
          <p:cNvSpPr txBox="1"/>
          <p:nvPr/>
        </p:nvSpPr>
        <p:spPr>
          <a:xfrm>
            <a:off x="471054" y="4821382"/>
            <a:ext cx="4433454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/>
              <a:t>Dataset = ENA24-detection</a:t>
            </a:r>
          </a:p>
          <a:p>
            <a:pPr marL="285750" indent="-285750">
              <a:buFont typeface="Calibri"/>
              <a:buChar char="-"/>
            </a:pPr>
            <a:r>
              <a:rPr lang="pl-PL"/>
              <a:t>8 789 zdjęć</a:t>
            </a:r>
          </a:p>
          <a:p>
            <a:pPr marL="285750" indent="-285750">
              <a:buFont typeface="Calibri"/>
              <a:buChar char="-"/>
            </a:pPr>
            <a:r>
              <a:rPr lang="pl-PL"/>
              <a:t>9772 bounding boxów</a:t>
            </a:r>
          </a:p>
          <a:p>
            <a:pPr marL="285750" indent="-285750">
              <a:buFont typeface="Calibri"/>
              <a:buChar char="-"/>
            </a:pPr>
            <a:r>
              <a:rPr lang="pl-PL"/>
              <a:t>22 różne gatunki</a:t>
            </a:r>
          </a:p>
          <a:p>
            <a:r>
              <a:rPr lang="pl-PL"/>
              <a:t>(w projekcie wszystkie gatunki zostały spowadzone do jednej klasy)</a:t>
            </a:r>
          </a:p>
        </p:txBody>
      </p:sp>
    </p:spTree>
    <p:extLst>
      <p:ext uri="{BB962C8B-B14F-4D97-AF65-F5344CB8AC3E}">
        <p14:creationId xmlns:p14="http://schemas.microsoft.com/office/powerpoint/2010/main" val="3076654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CAD59E9-1A2B-E417-83DA-D7FB811AA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64196" y="62214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Baseline </a:t>
            </a:r>
          </a:p>
        </p:txBody>
      </p:sp>
      <p:pic>
        <p:nvPicPr>
          <p:cNvPr id="5" name="Obraz 4" descr="Obraz zawierający drzewo, roślina, na wolnym powietrzu, zrzut ekranu&#10;&#10;Zawartość wygenerowana przez AI może być niepoprawna.">
            <a:extLst>
              <a:ext uri="{FF2B5EF4-FFF2-40B4-BE49-F238E27FC236}">
                <a16:creationId xmlns:a16="http://schemas.microsoft.com/office/drawing/2014/main" id="{7BC4743C-2DDA-74D5-5813-51FA22F01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208" y="1608629"/>
            <a:ext cx="5614416" cy="3158109"/>
          </a:xfrm>
          <a:prstGeom prst="rect">
            <a:avLst/>
          </a:prstGeom>
        </p:spPr>
      </p:pic>
      <p:pic>
        <p:nvPicPr>
          <p:cNvPr id="4" name="Symbol zastępczy zawartości 3" descr="Obraz zawierający roślina, drzewo, zrzut ekranu, na wolnym powietrzu&#10;&#10;Zawartość wygenerowana przez AI może być niepoprawna.">
            <a:extLst>
              <a:ext uri="{FF2B5EF4-FFF2-40B4-BE49-F238E27FC236}">
                <a16:creationId xmlns:a16="http://schemas.microsoft.com/office/drawing/2014/main" id="{74C5F83F-B863-2C08-F10C-90A1FE1881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8812" y="1608268"/>
            <a:ext cx="5614416" cy="3158109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87AE6561-F1BC-8386-BC1D-B8639C0E6FAD}"/>
              </a:ext>
            </a:extLst>
          </p:cNvPr>
          <p:cNvSpPr txBox="1"/>
          <p:nvPr/>
        </p:nvSpPr>
        <p:spPr>
          <a:xfrm>
            <a:off x="2230719" y="1241708"/>
            <a:ext cx="430463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/>
              <a:t>SimpleCNN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47F25B3F-1FAA-5805-830C-0B96A4C9DE5C}"/>
              </a:ext>
            </a:extLst>
          </p:cNvPr>
          <p:cNvSpPr txBox="1"/>
          <p:nvPr/>
        </p:nvSpPr>
        <p:spPr>
          <a:xfrm>
            <a:off x="7979141" y="1241709"/>
            <a:ext cx="401052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/>
              <a:t>RestNet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AAEF604D-039F-CF10-64C4-AA3A991B95BD}"/>
              </a:ext>
            </a:extLst>
          </p:cNvPr>
          <p:cNvSpPr txBox="1"/>
          <p:nvPr/>
        </p:nvSpPr>
        <p:spPr>
          <a:xfrm>
            <a:off x="5586099" y="5190208"/>
            <a:ext cx="771610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/>
              <a:t>MeanIOU = 0.33</a:t>
            </a:r>
          </a:p>
          <a:p>
            <a:endParaRPr lang="pl-PL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51181AD-3764-A6B2-B158-291838705898}"/>
              </a:ext>
            </a:extLst>
          </p:cNvPr>
          <p:cNvSpPr txBox="1"/>
          <p:nvPr/>
        </p:nvSpPr>
        <p:spPr>
          <a:xfrm>
            <a:off x="3475601" y="484714"/>
            <a:ext cx="841348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2800"/>
              <a:t>= Sliding Window z CNN</a:t>
            </a:r>
          </a:p>
        </p:txBody>
      </p:sp>
      <p:pic>
        <p:nvPicPr>
          <p:cNvPr id="6" name="Obraz 5" descr="Obraz zawierający tekst, Czcionka, zrzut ekranu&#10;&#10;Zawartość wygenerowana przez AI może być niepoprawna.">
            <a:extLst>
              <a:ext uri="{FF2B5EF4-FFF2-40B4-BE49-F238E27FC236}">
                <a16:creationId xmlns:a16="http://schemas.microsoft.com/office/drawing/2014/main" id="{3989A95B-8A4C-26A9-B499-B9FE5A8FB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365" y="4477483"/>
            <a:ext cx="4610100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997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5051AA6-2A87-89E5-6052-0674AFF5D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4" name="Symbol zastępczy zawartości 3" descr="Obraz zawierający tekst, zrzut ekranu, roślina, drzewo&#10;&#10;Zawartość wygenerowana przez AI może być niepoprawna.">
            <a:extLst>
              <a:ext uri="{FF2B5EF4-FFF2-40B4-BE49-F238E27FC236}">
                <a16:creationId xmlns:a16="http://schemas.microsoft.com/office/drawing/2014/main" id="{84885954-96E7-D37D-008D-523781BB9A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18"/>
            <a:ext cx="12191999" cy="685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636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D1A9D8B-3117-4D9D-BDA4-DD8189509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7467600" cy="6858000"/>
            <a:chOff x="7467600" y="0"/>
            <a:chExt cx="47244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877B25-8C10-4C8D-BC88-BF3C557F8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F0DD86-96CD-4F5F-BA4D-FFC17F2D6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D92035A-AA2F-4CD8-A556-1CE8BDEC7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69701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990600"/>
            <a:ext cx="112776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41B42F4-426F-C4EC-78C6-548A83DD9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76400"/>
            <a:ext cx="3810000" cy="3505200"/>
          </a:xfrm>
        </p:spPr>
        <p:txBody>
          <a:bodyPr anchor="t">
            <a:normAutofit/>
          </a:bodyPr>
          <a:lstStyle/>
          <a:p>
            <a:r>
              <a:rPr lang="pl-PL" sz="4000"/>
              <a:t>Data leak w początkowym stadium projektu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B891C3B-8584-2637-421B-CB949E225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4" y="1676400"/>
            <a:ext cx="5638796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l-PL" sz="2400" b="1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Problem: data leakage w zdjęciach z fotopułapek</a:t>
            </a:r>
            <a:endParaRPr lang="pl-PL" sz="2400">
              <a:solidFill>
                <a:schemeClr val="tx1">
                  <a:alpha val="55000"/>
                </a:schemeClr>
              </a:solidFill>
            </a:endParaRPr>
          </a:p>
          <a:p>
            <a:r>
              <a:rPr lang="pl-PL" sz="2400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fotopułapki robią serie bardzo podobnych zdjęć, </a:t>
            </a:r>
            <a:endParaRPr lang="pl-PL" sz="2400">
              <a:solidFill>
                <a:schemeClr val="tx1">
                  <a:alpha val="55000"/>
                </a:schemeClr>
              </a:solidFill>
            </a:endParaRPr>
          </a:p>
          <a:p>
            <a:r>
              <a:rPr lang="pl-PL" sz="2400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losowy podział train/val/test może wrzucić prawie identyczne zdjęcia do treningu i testu, </a:t>
            </a:r>
            <a:endParaRPr lang="pl-PL" sz="2400">
              <a:solidFill>
                <a:schemeClr val="tx1">
                  <a:alpha val="55000"/>
                </a:schemeClr>
              </a:solidFill>
            </a:endParaRPr>
          </a:p>
          <a:p>
            <a:r>
              <a:rPr lang="pl-PL" sz="2400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wtedy model „zna” scenę i</a:t>
            </a:r>
            <a:r>
              <a:rPr lang="pl-PL" sz="2400" b="1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 wynik jest sztucznie zawyżony</a:t>
            </a:r>
            <a:r>
              <a:rPr lang="pl-PL" sz="2400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, </a:t>
            </a:r>
            <a:endParaRPr lang="pl-PL" sz="2400">
              <a:solidFill>
                <a:schemeClr val="tx1">
                  <a:alpha val="55000"/>
                </a:schemeClr>
              </a:solidFill>
            </a:endParaRPr>
          </a:p>
          <a:p>
            <a:pPr marL="0" indent="0">
              <a:buNone/>
            </a:pPr>
            <a:endParaRPr lang="pl-PL" sz="2400">
              <a:solidFill>
                <a:schemeClr val="tx1">
                  <a:alpha val="55000"/>
                </a:schemeClr>
              </a:solidFill>
            </a:endParaRPr>
          </a:p>
          <a:p>
            <a:endParaRPr lang="pl-PL" sz="2400">
              <a:solidFill>
                <a:schemeClr val="tx1">
                  <a:alpha val="55000"/>
                </a:schemeClr>
              </a:solidFill>
              <a:latin typeface="Consolas"/>
            </a:endParaRPr>
          </a:p>
          <a:p>
            <a:endParaRPr lang="pl-PL" sz="2400">
              <a:solidFill>
                <a:schemeClr val="tx1">
                  <a:alpha val="5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6376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5D7969-9950-20D4-978E-0734107C9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3C210E6-A35A-4F68-8D60-801A019C7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E2834F-6BFC-87FE-EDBB-F6E4666278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8913"/>
          <a:stretch>
            <a:fillRect/>
          </a:stretch>
        </p:blipFill>
        <p:spPr>
          <a:xfrm>
            <a:off x="3136389" y="10"/>
            <a:ext cx="4979304" cy="3401558"/>
          </a:xfrm>
          <a:custGeom>
            <a:avLst/>
            <a:gdLst/>
            <a:ahLst/>
            <a:cxnLst/>
            <a:rect l="l" t="t" r="r" b="b"/>
            <a:pathLst>
              <a:path w="4979304" h="3364992">
                <a:moveTo>
                  <a:pt x="0" y="0"/>
                </a:moveTo>
                <a:lnTo>
                  <a:pt x="4211250" y="0"/>
                </a:lnTo>
                <a:lnTo>
                  <a:pt x="4309461" y="192282"/>
                </a:lnTo>
                <a:cubicBezTo>
                  <a:pt x="4697535" y="1033269"/>
                  <a:pt x="4937593" y="2032690"/>
                  <a:pt x="4974907" y="3110424"/>
                </a:cubicBezTo>
                <a:lnTo>
                  <a:pt x="4979304" y="3364992"/>
                </a:lnTo>
                <a:lnTo>
                  <a:pt x="800592" y="3364992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746D2C-9C94-B69A-C7F0-826F34FA3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" b="5716"/>
          <a:stretch>
            <a:fillRect/>
          </a:stretch>
        </p:blipFill>
        <p:spPr>
          <a:xfrm>
            <a:off x="7381690" y="3456433"/>
            <a:ext cx="4810310" cy="3401568"/>
          </a:xfrm>
          <a:custGeom>
            <a:avLst/>
            <a:gdLst/>
            <a:ahLst/>
            <a:cxnLst/>
            <a:rect l="l" t="t" r="r" b="b"/>
            <a:pathLst>
              <a:path w="4810310" h="3401568">
                <a:moveTo>
                  <a:pt x="781270" y="0"/>
                </a:moveTo>
                <a:lnTo>
                  <a:pt x="4810310" y="0"/>
                </a:lnTo>
                <a:lnTo>
                  <a:pt x="4810310" y="3401568"/>
                </a:lnTo>
                <a:lnTo>
                  <a:pt x="0" y="3401568"/>
                </a:lnTo>
                <a:lnTo>
                  <a:pt x="1963" y="3397912"/>
                </a:lnTo>
                <a:cubicBezTo>
                  <a:pt x="454182" y="2512619"/>
                  <a:pt x="736170" y="1430108"/>
                  <a:pt x="776876" y="254399"/>
                </a:cubicBezTo>
                <a:close/>
              </a:path>
            </a:pathLst>
          </a:cu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335865-720C-39D5-0917-BD403E4390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" b="7921"/>
          <a:stretch>
            <a:fillRect/>
          </a:stretch>
        </p:blipFill>
        <p:spPr>
          <a:xfrm>
            <a:off x="3189428" y="3456432"/>
            <a:ext cx="4925479" cy="3401568"/>
          </a:xfrm>
          <a:custGeom>
            <a:avLst/>
            <a:gdLst/>
            <a:ahLst/>
            <a:cxnLst/>
            <a:rect l="l" t="t" r="r" b="b"/>
            <a:pathLst>
              <a:path w="4925479" h="3364992">
                <a:moveTo>
                  <a:pt x="749362" y="0"/>
                </a:moveTo>
                <a:lnTo>
                  <a:pt x="4925479" y="0"/>
                </a:lnTo>
                <a:lnTo>
                  <a:pt x="4921868" y="209033"/>
                </a:lnTo>
                <a:cubicBezTo>
                  <a:pt x="4884554" y="1286766"/>
                  <a:pt x="4644496" y="2286187"/>
                  <a:pt x="4256422" y="3127175"/>
                </a:cubicBezTo>
                <a:lnTo>
                  <a:pt x="4134952" y="3364992"/>
                </a:lnTo>
                <a:lnTo>
                  <a:pt x="0" y="3364992"/>
                </a:lnTo>
                <a:lnTo>
                  <a:pt x="79008" y="3202330"/>
                </a:lnTo>
                <a:cubicBezTo>
                  <a:pt x="467082" y="2361343"/>
                  <a:pt x="707140" y="1361922"/>
                  <a:pt x="744454" y="284189"/>
                </a:cubicBezTo>
                <a:close/>
              </a:path>
            </a:pathLst>
          </a:custGeom>
        </p:spPr>
      </p:pic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AC0D06B0-F19C-459E-B221-A34B506FB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45815" cy="6858000"/>
          </a:xfrm>
          <a:custGeom>
            <a:avLst/>
            <a:gdLst>
              <a:gd name="connsiteX0" fmla="*/ 0 w 3945815"/>
              <a:gd name="connsiteY0" fmla="*/ 0 h 6858000"/>
              <a:gd name="connsiteX1" fmla="*/ 3138662 w 3945815"/>
              <a:gd name="connsiteY1" fmla="*/ 0 h 6858000"/>
              <a:gd name="connsiteX2" fmla="*/ 3275260 w 3945815"/>
              <a:gd name="connsiteY2" fmla="*/ 267438 h 6858000"/>
              <a:gd name="connsiteX3" fmla="*/ 3945815 w 3945815"/>
              <a:gd name="connsiteY3" fmla="*/ 3481388 h 6858000"/>
              <a:gd name="connsiteX4" fmla="*/ 3275260 w 3945815"/>
              <a:gd name="connsiteY4" fmla="*/ 6695338 h 6858000"/>
              <a:gd name="connsiteX5" fmla="*/ 3192177 w 3945815"/>
              <a:gd name="connsiteY5" fmla="*/ 6858000 h 6858000"/>
              <a:gd name="connsiteX6" fmla="*/ 0 w 394581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45815" h="6858000">
                <a:moveTo>
                  <a:pt x="0" y="0"/>
                </a:moveTo>
                <a:lnTo>
                  <a:pt x="3138662" y="0"/>
                </a:lnTo>
                <a:lnTo>
                  <a:pt x="3275260" y="267438"/>
                </a:lnTo>
                <a:cubicBezTo>
                  <a:pt x="3698614" y="1184879"/>
                  <a:pt x="3945815" y="2290869"/>
                  <a:pt x="3945815" y="3481388"/>
                </a:cubicBezTo>
                <a:cubicBezTo>
                  <a:pt x="3945815" y="4671908"/>
                  <a:pt x="3698614" y="5777898"/>
                  <a:pt x="3275260" y="6695338"/>
                </a:cubicBezTo>
                <a:lnTo>
                  <a:pt x="319217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345B26DA-1C6B-4C66-81C9-9C1877FC2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36670" cy="6858000"/>
          </a:xfrm>
          <a:custGeom>
            <a:avLst/>
            <a:gdLst>
              <a:gd name="connsiteX0" fmla="*/ 0 w 3936670"/>
              <a:gd name="connsiteY0" fmla="*/ 0 h 6858000"/>
              <a:gd name="connsiteX1" fmla="*/ 3129517 w 3936670"/>
              <a:gd name="connsiteY1" fmla="*/ 0 h 6858000"/>
              <a:gd name="connsiteX2" fmla="*/ 3266115 w 3936670"/>
              <a:gd name="connsiteY2" fmla="*/ 267438 h 6858000"/>
              <a:gd name="connsiteX3" fmla="*/ 3936670 w 3936670"/>
              <a:gd name="connsiteY3" fmla="*/ 3481388 h 6858000"/>
              <a:gd name="connsiteX4" fmla="*/ 3266115 w 3936670"/>
              <a:gd name="connsiteY4" fmla="*/ 6695338 h 6858000"/>
              <a:gd name="connsiteX5" fmla="*/ 3183032 w 3936670"/>
              <a:gd name="connsiteY5" fmla="*/ 6858000 h 6858000"/>
              <a:gd name="connsiteX6" fmla="*/ 0 w 39366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36670" h="6858000">
                <a:moveTo>
                  <a:pt x="0" y="0"/>
                </a:moveTo>
                <a:lnTo>
                  <a:pt x="3129517" y="0"/>
                </a:lnTo>
                <a:lnTo>
                  <a:pt x="3266115" y="267438"/>
                </a:lnTo>
                <a:cubicBezTo>
                  <a:pt x="3689469" y="1184879"/>
                  <a:pt x="3936670" y="2290869"/>
                  <a:pt x="3936670" y="3481388"/>
                </a:cubicBezTo>
                <a:cubicBezTo>
                  <a:pt x="3936670" y="4671908"/>
                  <a:pt x="3689469" y="5777898"/>
                  <a:pt x="3266115" y="6695338"/>
                </a:cubicBezTo>
                <a:lnTo>
                  <a:pt x="3183032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42B0DE7-E67D-B81F-0BF9-1C799084A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685800"/>
            <a:ext cx="2807208" cy="1325563"/>
          </a:xfrm>
        </p:spPr>
        <p:txBody>
          <a:bodyPr>
            <a:normAutofit/>
          </a:bodyPr>
          <a:lstStyle/>
          <a:p>
            <a:r>
              <a:rPr lang="pl-PL" sz="2800"/>
              <a:t>Przykład: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8DE6C44-43F8-4DE4-AB81-66853FFEA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05840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409529B-9B56-4F10-BE4D-F934DB89E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089941"/>
            <a:ext cx="2834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2E3FC2B-A903-457D-4601-53DE051F7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2258568"/>
            <a:ext cx="2807208" cy="392277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pl-PL" sz="1700" b="1"/>
          </a:p>
          <a:p>
            <a:pPr marL="0" indent="0">
              <a:buNone/>
            </a:pPr>
            <a:endParaRPr lang="pl-PL" sz="1700"/>
          </a:p>
          <a:p>
            <a:endParaRPr lang="pl-PL" sz="1700">
              <a:latin typeface="Consolas"/>
            </a:endParaRPr>
          </a:p>
          <a:p>
            <a:endParaRPr lang="pl-PL" sz="17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30C2E1-476F-70C9-63C5-D961B4A132C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-1" b="5268"/>
          <a:stretch>
            <a:fillRect/>
          </a:stretch>
        </p:blipFill>
        <p:spPr>
          <a:xfrm>
            <a:off x="7404372" y="10"/>
            <a:ext cx="4787628" cy="3401558"/>
          </a:xfrm>
          <a:custGeom>
            <a:avLst/>
            <a:gdLst/>
            <a:ahLst/>
            <a:cxnLst/>
            <a:rect l="l" t="t" r="r" b="b"/>
            <a:pathLst>
              <a:path w="4787628" h="3401568">
                <a:moveTo>
                  <a:pt x="0" y="0"/>
                </a:moveTo>
                <a:lnTo>
                  <a:pt x="4787628" y="0"/>
                </a:lnTo>
                <a:lnTo>
                  <a:pt x="4787628" y="3401568"/>
                </a:lnTo>
                <a:lnTo>
                  <a:pt x="762748" y="3401568"/>
                </a:lnTo>
                <a:lnTo>
                  <a:pt x="751436" y="2963954"/>
                </a:lnTo>
                <a:cubicBezTo>
                  <a:pt x="698408" y="1942163"/>
                  <a:pt x="463174" y="995044"/>
                  <a:pt x="93264" y="192283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39998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EE1A9-F613-EE53-CC7F-E276158EA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 </a:t>
            </a:r>
            <a:r>
              <a:rPr lang="en-US" dirty="0" err="1"/>
              <a:t>zrobiliśmy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5D81C-DF95-37D7-6BDE-1A5DFC35C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Crop 6% </a:t>
            </a:r>
            <a:r>
              <a:rPr lang="en-US" dirty="0" err="1"/>
              <a:t>góry</a:t>
            </a:r>
            <a:r>
              <a:rPr lang="en-US" dirty="0"/>
              <a:t> </a:t>
            </a:r>
            <a:r>
              <a:rPr lang="en-US" dirty="0" err="1"/>
              <a:t>obrazka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10% </a:t>
            </a:r>
            <a:r>
              <a:rPr lang="en-US" dirty="0" err="1"/>
              <a:t>dołu</a:t>
            </a:r>
            <a:r>
              <a:rPr lang="en-US" dirty="0"/>
              <a:t>, aby </a:t>
            </a:r>
            <a:r>
              <a:rPr lang="en-US" dirty="0" err="1"/>
              <a:t>pozbyć</a:t>
            </a:r>
            <a:r>
              <a:rPr lang="en-US" dirty="0"/>
              <a:t> </a:t>
            </a:r>
            <a:r>
              <a:rPr lang="en-US" dirty="0" err="1"/>
              <a:t>się</a:t>
            </a:r>
            <a:r>
              <a:rPr lang="en-US" dirty="0"/>
              <a:t> </a:t>
            </a:r>
            <a:r>
              <a:rPr lang="en-US" dirty="0" err="1"/>
              <a:t>timestampów</a:t>
            </a:r>
            <a:r>
              <a:rPr lang="en-US" dirty="0"/>
              <a:t> I </a:t>
            </a:r>
            <a:r>
              <a:rPr lang="en-US" dirty="0" err="1"/>
              <a:t>napisów</a:t>
            </a:r>
            <a:endParaRPr lang="en-US"/>
          </a:p>
          <a:p>
            <a:r>
              <a:rPr lang="en-US" dirty="0"/>
              <a:t>Perceptual Hashing (</a:t>
            </a:r>
            <a:r>
              <a:rPr lang="en-US" dirty="0" err="1"/>
              <a:t>pHash</a:t>
            </a:r>
            <a:r>
              <a:rPr lang="en-US" dirty="0"/>
              <a:t>) </a:t>
            </a:r>
            <a:r>
              <a:rPr lang="en-US" dirty="0" err="1"/>
              <a:t>przy</a:t>
            </a:r>
            <a:r>
              <a:rPr lang="en-US" dirty="0"/>
              <a:t> </a:t>
            </a:r>
            <a:r>
              <a:rPr lang="en-US" dirty="0" err="1"/>
              <a:t>użyciu</a:t>
            </a:r>
            <a:r>
              <a:rPr lang="en-US" dirty="0"/>
              <a:t> </a:t>
            </a:r>
            <a:r>
              <a:rPr lang="en-US" dirty="0" err="1"/>
              <a:t>biblioteki</a:t>
            </a:r>
            <a:r>
              <a:rPr lang="en-US" dirty="0"/>
              <a:t> </a:t>
            </a:r>
            <a:r>
              <a:rPr lang="en-US" dirty="0" err="1">
                <a:ea typeface="+mn-lt"/>
                <a:cs typeface="+mn-lt"/>
                <a:hlinkClick r:id="rId2"/>
              </a:rPr>
              <a:t>ImageHash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dirty="0"/>
              <a:t>Pairwise matching – </a:t>
            </a:r>
            <a:r>
              <a:rPr lang="en-US" dirty="0" err="1"/>
              <a:t>uznajemy</a:t>
            </a:r>
            <a:r>
              <a:rPr lang="en-US" dirty="0"/>
              <a:t> </a:t>
            </a:r>
            <a:r>
              <a:rPr lang="en-US" dirty="0" err="1"/>
              <a:t>zdjęcia</a:t>
            </a:r>
            <a:r>
              <a:rPr lang="en-US" dirty="0"/>
              <a:t> za '</a:t>
            </a:r>
            <a:r>
              <a:rPr lang="en-US" dirty="0" err="1"/>
              <a:t>bardzo</a:t>
            </a:r>
            <a:r>
              <a:rPr lang="en-US" dirty="0"/>
              <a:t> </a:t>
            </a:r>
            <a:r>
              <a:rPr lang="en-US" dirty="0" err="1"/>
              <a:t>podobne</a:t>
            </a:r>
            <a:r>
              <a:rPr lang="en-US" dirty="0"/>
              <a:t>' </a:t>
            </a:r>
            <a:r>
              <a:rPr lang="en-US" dirty="0" err="1"/>
              <a:t>jeśli</a:t>
            </a:r>
            <a:r>
              <a:rPr lang="en-US" dirty="0"/>
              <a:t> Hamming distance &lt;= 3</a:t>
            </a:r>
          </a:p>
          <a:p>
            <a:r>
              <a:rPr lang="en-US" dirty="0"/>
              <a:t>Union-Find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takich</a:t>
            </a:r>
            <a:r>
              <a:rPr lang="en-US" dirty="0"/>
              <a:t> </a:t>
            </a:r>
            <a:r>
              <a:rPr lang="en-US" dirty="0" err="1"/>
              <a:t>parach</a:t>
            </a:r>
            <a:r>
              <a:rPr lang="en-US" dirty="0"/>
              <a:t>, </a:t>
            </a:r>
            <a:r>
              <a:rPr lang="en-US" dirty="0" err="1"/>
              <a:t>łaczymy</a:t>
            </a:r>
            <a:r>
              <a:rPr lang="en-US" dirty="0"/>
              <a:t> </a:t>
            </a:r>
            <a:r>
              <a:rPr lang="en-US" dirty="0" err="1"/>
              <a:t>najbliższe</a:t>
            </a:r>
            <a:r>
              <a:rPr lang="en-US" dirty="0"/>
              <a:t> </a:t>
            </a:r>
            <a:r>
              <a:rPr lang="en-US" dirty="0" err="1"/>
              <a:t>sobie</a:t>
            </a:r>
            <a:r>
              <a:rPr lang="en-US" dirty="0"/>
              <a:t> </a:t>
            </a:r>
            <a:r>
              <a:rPr lang="en-US" dirty="0" err="1"/>
              <a:t>grupy</a:t>
            </a:r>
            <a:r>
              <a:rPr lang="en-US" dirty="0"/>
              <a:t> w </a:t>
            </a:r>
            <a:r>
              <a:rPr lang="en-US" dirty="0" err="1"/>
              <a:t>coraz</a:t>
            </a:r>
            <a:r>
              <a:rPr lang="en-US" dirty="0"/>
              <a:t> </a:t>
            </a:r>
            <a:r>
              <a:rPr lang="en-US" dirty="0" err="1"/>
              <a:t>większe</a:t>
            </a:r>
            <a:r>
              <a:rPr lang="en-US" dirty="0"/>
              <a:t>, ale </a:t>
            </a:r>
            <a:r>
              <a:rPr lang="en-US" dirty="0" err="1"/>
              <a:t>nie</a:t>
            </a:r>
            <a:r>
              <a:rPr lang="en-US" dirty="0"/>
              <a:t> </a:t>
            </a:r>
            <a:r>
              <a:rPr lang="en-US" dirty="0" err="1"/>
              <a:t>większe</a:t>
            </a:r>
            <a:r>
              <a:rPr lang="en-US" dirty="0"/>
              <a:t> od 50 </a:t>
            </a:r>
            <a:r>
              <a:rPr lang="en-US" dirty="0" err="1"/>
              <a:t>elementów</a:t>
            </a:r>
          </a:p>
          <a:p>
            <a:r>
              <a:rPr lang="en-US" dirty="0" err="1"/>
              <a:t>Robimy</a:t>
            </a:r>
            <a:r>
              <a:rPr lang="en-US" dirty="0"/>
              <a:t> </a:t>
            </a:r>
            <a:r>
              <a:rPr lang="en-US" dirty="0" err="1"/>
              <a:t>podział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zbiory</a:t>
            </a:r>
            <a:r>
              <a:rPr lang="en-US" dirty="0"/>
              <a:t> train/test/</a:t>
            </a:r>
            <a:r>
              <a:rPr lang="en-US" dirty="0" err="1"/>
              <a:t>val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podstawie</a:t>
            </a:r>
            <a:r>
              <a:rPr lang="en-US" dirty="0"/>
              <a:t> </a:t>
            </a:r>
            <a:r>
              <a:rPr lang="en-US" dirty="0" err="1"/>
              <a:t>grup</a:t>
            </a:r>
            <a:r>
              <a:rPr lang="en-US" dirty="0"/>
              <a:t>, a </a:t>
            </a:r>
            <a:r>
              <a:rPr lang="en-US" dirty="0" err="1"/>
              <a:t>nie</a:t>
            </a:r>
            <a:r>
              <a:rPr lang="en-US" dirty="0"/>
              <a:t> </a:t>
            </a:r>
            <a:r>
              <a:rPr lang="en-US" dirty="0" err="1"/>
              <a:t>pojedynczych</a:t>
            </a:r>
            <a:r>
              <a:rPr lang="en-US" dirty="0"/>
              <a:t> </a:t>
            </a:r>
            <a:r>
              <a:rPr lang="en-US" dirty="0" err="1"/>
              <a:t>zdjęć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47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CB6100-6F7B-24E9-B550-2B2330ED6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Rezultat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5FB1898-9F2E-C4F3-0396-D4FA95ED0D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064185"/>
            <a:ext cx="7188199" cy="472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352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54EAE2-E8F9-29C2-AB27-FBCAEB0DB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Symbol zastępczy zawartości 4" descr="Obraz zawierający tekst, zrzut ekranu&#10;&#10;Zawartość wygenerowana przez AI może być niepoprawna.">
            <a:extLst>
              <a:ext uri="{FF2B5EF4-FFF2-40B4-BE49-F238E27FC236}">
                <a16:creationId xmlns:a16="http://schemas.microsoft.com/office/drawing/2014/main" id="{1C3B0270-0DB0-8D56-6684-8CC27CFA8B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9273" y="-118"/>
            <a:ext cx="12344399" cy="6936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680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8D7F0A9-78FC-5C7D-2BA1-C08CFCA1B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853" y="220282"/>
            <a:ext cx="10515600" cy="1325563"/>
          </a:xfrm>
        </p:spPr>
        <p:txBody>
          <a:bodyPr/>
          <a:lstStyle/>
          <a:p>
            <a:r>
              <a:rPr lang="pl-PL" b="1"/>
              <a:t>YOLOv8n</a:t>
            </a:r>
          </a:p>
        </p:txBody>
      </p:sp>
      <p:pic>
        <p:nvPicPr>
          <p:cNvPr id="4" name="Symbol zastępczy zawartości 3" descr="Obraz zawierający roślina, drzewo, na wolnym powietrzu, trawa&#10;&#10;Zawartość wygenerowana przez AI może być niepoprawna.">
            <a:extLst>
              <a:ext uri="{FF2B5EF4-FFF2-40B4-BE49-F238E27FC236}">
                <a16:creationId xmlns:a16="http://schemas.microsoft.com/office/drawing/2014/main" id="{59FCB71B-5A8A-FBD3-669D-3B0337F30A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2231" y="1493241"/>
            <a:ext cx="6897317" cy="3866479"/>
          </a:xfrm>
          <a:prstGeom prst="rect">
            <a:avLst/>
          </a:prstGeom>
        </p:spPr>
      </p:pic>
      <p:pic>
        <p:nvPicPr>
          <p:cNvPr id="3" name="Obraz 2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C450FC6A-6257-1064-ACB3-F21B93327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885" y="4738091"/>
            <a:ext cx="5876925" cy="1866900"/>
          </a:xfrm>
          <a:prstGeom prst="rect">
            <a:avLst/>
          </a:prstGeom>
        </p:spPr>
      </p:pic>
      <p:pic>
        <p:nvPicPr>
          <p:cNvPr id="5" name="Obraz 4" descr="Obraz zawierający tekst, Czcionka, zrzut ekranu&#10;&#10;Zawartość wygenerowana przez AI może być niepoprawna.">
            <a:extLst>
              <a:ext uri="{FF2B5EF4-FFF2-40B4-BE49-F238E27FC236}">
                <a16:creationId xmlns:a16="http://schemas.microsoft.com/office/drawing/2014/main" id="{8112899E-18D2-EE69-7A6B-6FE9230C2D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8054" y="3153124"/>
            <a:ext cx="3876675" cy="1590675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70BC362F-2733-8ACF-0C45-B24C0937BF63}"/>
              </a:ext>
            </a:extLst>
          </p:cNvPr>
          <p:cNvSpPr txBox="1"/>
          <p:nvPr/>
        </p:nvSpPr>
        <p:spPr>
          <a:xfrm>
            <a:off x="260296" y="222512"/>
            <a:ext cx="37561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/>
              <a:t>Główny model:</a:t>
            </a:r>
          </a:p>
        </p:txBody>
      </p:sp>
    </p:spTree>
    <p:extLst>
      <p:ext uri="{BB962C8B-B14F-4D97-AF65-F5344CB8AC3E}">
        <p14:creationId xmlns:p14="http://schemas.microsoft.com/office/powerpoint/2010/main" val="3561213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876D8E1-ACEB-8B94-9344-52EF08CCF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622" y="94332"/>
            <a:ext cx="10515600" cy="1325563"/>
          </a:xfrm>
        </p:spPr>
        <p:txBody>
          <a:bodyPr/>
          <a:lstStyle/>
          <a:p>
            <a:r>
              <a:rPr lang="pl-PL"/>
              <a:t>Różnice</a:t>
            </a:r>
          </a:p>
        </p:txBody>
      </p:sp>
      <p:pic>
        <p:nvPicPr>
          <p:cNvPr id="4" name="Symbol zastępczy zawartości 3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1E5D6A1A-EDE9-D582-FF32-4E2C343D28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4656" y="452652"/>
            <a:ext cx="5977283" cy="4351338"/>
          </a:xfrm>
          <a:prstGeom prst="rect">
            <a:avLst/>
          </a:prstGeom>
        </p:spPr>
      </p:pic>
      <p:pic>
        <p:nvPicPr>
          <p:cNvPr id="5" name="Obraz 4" descr="Obraz zawierający tekst, zrzut ekranu, Czcionka, design&#10;&#10;Zawartość wygenerowana przez AI może być niepoprawna.">
            <a:extLst>
              <a:ext uri="{FF2B5EF4-FFF2-40B4-BE49-F238E27FC236}">
                <a16:creationId xmlns:a16="http://schemas.microsoft.com/office/drawing/2014/main" id="{8EC57DE7-E52B-942E-5110-75C47CF737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673" t="49683" r="-262" b="27310"/>
          <a:stretch>
            <a:fillRect/>
          </a:stretch>
        </p:blipFill>
        <p:spPr>
          <a:xfrm>
            <a:off x="3080437" y="4817093"/>
            <a:ext cx="4864712" cy="705573"/>
          </a:xfrm>
          <a:prstGeom prst="rect">
            <a:avLst/>
          </a:prstGeom>
        </p:spPr>
      </p:pic>
      <p:pic>
        <p:nvPicPr>
          <p:cNvPr id="9" name="Obraz 8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7D278749-58C0-420D-CC12-1E490A28EE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7" b="54532"/>
          <a:stretch>
            <a:fillRect/>
          </a:stretch>
        </p:blipFill>
        <p:spPr>
          <a:xfrm>
            <a:off x="6816512" y="4837078"/>
            <a:ext cx="4799142" cy="70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527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ymbol zastępczy zawartości 5" descr="Obraz zawierający drzewo, na wolnym powietrzu, śnieg, huśtawka&#10;&#10;Zawartość wygenerowana przez AI może być niepoprawna.">
            <a:extLst>
              <a:ext uri="{FF2B5EF4-FFF2-40B4-BE49-F238E27FC236}">
                <a16:creationId xmlns:a16="http://schemas.microsoft.com/office/drawing/2014/main" id="{E04E7F74-90B0-65A4-A7A2-889196C003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805" y="3108195"/>
            <a:ext cx="4771293" cy="35989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Obraz 8" descr="Obraz zawierający zrzut ekranu, tekst&#10;&#10;Zawartość wygenerowana przez AI może być niepoprawna.">
            <a:extLst>
              <a:ext uri="{FF2B5EF4-FFF2-40B4-BE49-F238E27FC236}">
                <a16:creationId xmlns:a16="http://schemas.microsoft.com/office/drawing/2014/main" id="{E10B83FC-0DEE-72D8-9678-1CF9D4303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2430" y="2845592"/>
            <a:ext cx="4947139" cy="37103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Obraz 9" descr="Obraz zawierający zrzut ekranu, tekst&#10;&#10;Zawartość wygenerowana przez AI może być niepoprawna.">
            <a:extLst>
              <a:ext uri="{FF2B5EF4-FFF2-40B4-BE49-F238E27FC236}">
                <a16:creationId xmlns:a16="http://schemas.microsoft.com/office/drawing/2014/main" id="{6383D87A-E88B-E01B-2D21-A18CAED0C9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3120" y="3442941"/>
            <a:ext cx="4308231" cy="32297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" name="Obraz 1" descr="Obraz zawierający drzewo, na wolnym powietrzu, las, roślina&#10;&#10;Zawartość wygenerowana przez AI może być niepoprawna.">
            <a:extLst>
              <a:ext uri="{FF2B5EF4-FFF2-40B4-BE49-F238E27FC236}">
                <a16:creationId xmlns:a16="http://schemas.microsoft.com/office/drawing/2014/main" id="{31EBC947-FF67-5404-3F0D-51D828DA6E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297" y="213444"/>
            <a:ext cx="4255477" cy="32121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Obraz 2" descr="Obraz zawierający drzewo, na wolnym powietrzu, las, pies&#10;&#10;Zawartość wygenerowana przez AI może być niepoprawna.">
            <a:extLst>
              <a:ext uri="{FF2B5EF4-FFF2-40B4-BE49-F238E27FC236}">
                <a16:creationId xmlns:a16="http://schemas.microsoft.com/office/drawing/2014/main" id="{EC0850F9-BE0A-0A37-8DF5-29B5EABFF6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8042" y="477358"/>
            <a:ext cx="4036541" cy="29930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Obraz 3" descr="Obraz zawierający drzewo, na wolnym powietrzu, ssak, bydło&#10;&#10;Zawartość wygenerowana przez AI może być niepoprawna.">
            <a:extLst>
              <a:ext uri="{FF2B5EF4-FFF2-40B4-BE49-F238E27FC236}">
                <a16:creationId xmlns:a16="http://schemas.microsoft.com/office/drawing/2014/main" id="{CAC50EA2-1441-BC21-3D68-BC6217A12E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2437" y="269571"/>
            <a:ext cx="4551406" cy="34118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70191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E987FA6-39BC-B1EE-ECFC-EAFFB6D3E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03257" y="3430726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err="1"/>
              <a:t>Problemy</a:t>
            </a:r>
            <a:r>
              <a:rPr lang="en-US" sz="6600"/>
              <a:t> z Yolo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1E7AD9E3-DEF7-4C12-7688-FE1F1BC107FB}"/>
              </a:ext>
            </a:extLst>
          </p:cNvPr>
          <p:cNvSpPr txBox="1"/>
          <p:nvPr/>
        </p:nvSpPr>
        <p:spPr>
          <a:xfrm>
            <a:off x="603685" y="4849974"/>
            <a:ext cx="564291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/>
              <a:t>Niektóre zdjęcia bywają po prostu trudne</a:t>
            </a:r>
          </a:p>
          <a:p>
            <a:r>
              <a:rPr lang="pl-PL"/>
              <a:t>Ale aktualnie wytrenowany model woli nie zaznaczyć nic niż zrobić False Positive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F369F46-FC28-E567-6EAB-02DEA196FDC6}"/>
              </a:ext>
            </a:extLst>
          </p:cNvPr>
          <p:cNvSpPr txBox="1"/>
          <p:nvPr/>
        </p:nvSpPr>
        <p:spPr>
          <a:xfrm>
            <a:off x="218572" y="5930908"/>
            <a:ext cx="612119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/>
              <a:t>Więc teraz zależy na czym nam zależy, na tym żeby popełniał jak najmniej FP czy jak najmniej FN</a:t>
            </a:r>
          </a:p>
        </p:txBody>
      </p:sp>
      <p:pic>
        <p:nvPicPr>
          <p:cNvPr id="11" name="Symbol zastępczy zawartości 10" descr="Obraz zawierający na wolnym powietrzu, roślina, drzewo, zrzut ekranu&#10;&#10;Zawartość wygenerowana przez AI może być niepoprawna.">
            <a:extLst>
              <a:ext uri="{FF2B5EF4-FFF2-40B4-BE49-F238E27FC236}">
                <a16:creationId xmlns:a16="http://schemas.microsoft.com/office/drawing/2014/main" id="{85FD0365-06C2-4032-8341-94242E2680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9" y="52506"/>
            <a:ext cx="3938953" cy="298938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8" name="Obraz 17" descr="Obraz zawierający drzewo, na wolnym powietrzu, dżungla, natura&#10;&#10;Zawartość wygenerowana przez AI może być niepoprawna.">
            <a:extLst>
              <a:ext uri="{FF2B5EF4-FFF2-40B4-BE49-F238E27FC236}">
                <a16:creationId xmlns:a16="http://schemas.microsoft.com/office/drawing/2014/main" id="{3BC4D6E4-C99C-3378-FA68-7901E01C8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059" y="1772994"/>
            <a:ext cx="4753707" cy="276664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9" name="Obraz 18" descr="Obraz zawierający drzewo, na wolnym powietrzu, trawa, roślina&#10;&#10;Zawartość wygenerowana przez AI może być niepoprawna.">
            <a:extLst>
              <a:ext uri="{FF2B5EF4-FFF2-40B4-BE49-F238E27FC236}">
                <a16:creationId xmlns:a16="http://schemas.microsoft.com/office/drawing/2014/main" id="{68BEA774-0EE5-F9F2-CDA1-B10964CC15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937" y="4580574"/>
            <a:ext cx="3950677" cy="22215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" name="Obraz 19" descr="Obraz zawierający na wolnym powietrzu, roślina, zrzut ekranu, trawa&#10;&#10;Zawartość wygenerowana przez AI może być niepoprawna.">
            <a:extLst>
              <a:ext uri="{FF2B5EF4-FFF2-40B4-BE49-F238E27FC236}">
                <a16:creationId xmlns:a16="http://schemas.microsoft.com/office/drawing/2014/main" id="{B6FCCC1B-2C97-0D71-3F5A-7DCCCC8057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5461" y="4539640"/>
            <a:ext cx="3792416" cy="2133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Obraz 12" descr="Obraz zawierający roślina, tekst, na wolnym powietrzu, drzewo&#10;&#10;Zawartość wygenerowana przez AI może być niepoprawna.">
            <a:extLst>
              <a:ext uri="{FF2B5EF4-FFF2-40B4-BE49-F238E27FC236}">
                <a16:creationId xmlns:a16="http://schemas.microsoft.com/office/drawing/2014/main" id="{62A52B08-2BB4-BA9C-5F2E-C8841F1BC9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1783" y="-110982"/>
            <a:ext cx="3909646" cy="29483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Obraz 15" descr="Obraz zawierający roślina, na wolnym powietrzu, tekst, drzewo&#10;&#10;Zawartość wygenerowana przez AI może być niepoprawna.">
            <a:extLst>
              <a:ext uri="{FF2B5EF4-FFF2-40B4-BE49-F238E27FC236}">
                <a16:creationId xmlns:a16="http://schemas.microsoft.com/office/drawing/2014/main" id="{D9B38614-39E0-3973-6A38-8817261438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9274" y="240710"/>
            <a:ext cx="3927231" cy="29717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7" name="Obraz 16" descr="Obraz zawierający zrzut ekranu, tekst, Prostokąt&#10;&#10;Zawartość wygenerowana przez AI może być niepoprawna.">
            <a:extLst>
              <a:ext uri="{FF2B5EF4-FFF2-40B4-BE49-F238E27FC236}">
                <a16:creationId xmlns:a16="http://schemas.microsoft.com/office/drawing/2014/main" id="{7FE14614-132E-8AB9-DAD4-A45F59BD9E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69974" y="59003"/>
            <a:ext cx="3587262" cy="26083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29856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D1A9D8B-3117-4D9D-BDA4-DD8189509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7467600" cy="6858000"/>
            <a:chOff x="7467600" y="0"/>
            <a:chExt cx="47244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877B25-8C10-4C8D-BC88-BF3C557F8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F0DD86-96CD-4F5F-BA4D-FFC17F2D6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D92035A-AA2F-4CD8-A556-1CE8BDEC7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69701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990600"/>
            <a:ext cx="112776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20F0A22-3549-BAF7-E24A-4C937BA84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76400"/>
            <a:ext cx="3810000" cy="3505200"/>
          </a:xfrm>
        </p:spPr>
        <p:txBody>
          <a:bodyPr anchor="t">
            <a:normAutofit/>
          </a:bodyPr>
          <a:lstStyle/>
          <a:p>
            <a:r>
              <a:rPr lang="pl-PL" sz="4000"/>
              <a:t>Możliwe usprawnienia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744E712-C7DB-275F-C3B8-2DAC6DE7B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4" y="1676400"/>
            <a:ext cx="5638796" cy="3505200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pl-PL" sz="2400" b="1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Lepsza detekcja</a:t>
            </a:r>
            <a:endParaRPr lang="pl-PL" sz="2400">
              <a:solidFill>
                <a:schemeClr val="tx1">
                  <a:alpha val="55000"/>
                </a:schemeClr>
              </a:solidFill>
            </a:endParaRPr>
          </a:p>
          <a:p>
            <a:r>
              <a:rPr lang="pl-PL" sz="2400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dłuższy trening, większy model, augmentacja, większy</a:t>
            </a:r>
            <a:r>
              <a:rPr lang="pl-PL" sz="2400">
                <a:solidFill>
                  <a:schemeClr val="tx1">
                    <a:alpha val="55000"/>
                  </a:schemeClr>
                </a:solidFill>
              </a:rPr>
              <a:t> data set, tuning parametrów</a:t>
            </a:r>
          </a:p>
          <a:p>
            <a:pPr marL="0" indent="0">
              <a:buNone/>
            </a:pPr>
            <a:endParaRPr lang="pl-PL" sz="2400" dirty="0">
              <a:solidFill>
                <a:srgbClr val="000000">
                  <a:alpha val="55000"/>
                </a:srgbClr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pl-PL" sz="2400" b="1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Lepsze grupowanie anti-data-leak</a:t>
            </a:r>
            <a:endParaRPr lang="pl-PL" sz="2400" dirty="0">
              <a:solidFill>
                <a:srgbClr val="000000">
                  <a:alpha val="55000"/>
                </a:srgbClr>
              </a:solidFill>
              <a:ea typeface="+mn-lt"/>
              <a:cs typeface="+mn-lt"/>
            </a:endParaRPr>
          </a:p>
          <a:p>
            <a:r>
              <a:rPr lang="pl-PL" sz="2400">
                <a:solidFill>
                  <a:srgbClr val="000000">
                    <a:alpha val="55000"/>
                  </a:srgbClr>
                </a:solidFill>
                <a:ea typeface="+mn-lt"/>
                <a:cs typeface="+mn-lt"/>
              </a:rPr>
              <a:t>inne metody, tuning parametrów​</a:t>
            </a:r>
            <a:endParaRPr lang="pl-PL" sz="2400" dirty="0">
              <a:solidFill>
                <a:srgbClr val="000000">
                  <a:alpha val="55000"/>
                </a:srgbClr>
              </a:solidFill>
              <a:ea typeface="+mn-lt"/>
              <a:cs typeface="+mn-lt"/>
            </a:endParaRPr>
          </a:p>
          <a:p>
            <a:pPr marL="0" indent="0">
              <a:buNone/>
            </a:pPr>
            <a:endParaRPr lang="pl-PL" sz="2400" b="1">
              <a:solidFill>
                <a:schemeClr val="tx1">
                  <a:alpha val="55000"/>
                </a:schemeClr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pl-PL" sz="2400" b="1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Rozszerzenie projektu</a:t>
            </a:r>
            <a:endParaRPr lang="pl-PL" sz="2400">
              <a:solidFill>
                <a:schemeClr val="tx1">
                  <a:alpha val="55000"/>
                </a:schemeClr>
              </a:solidFill>
            </a:endParaRPr>
          </a:p>
          <a:p>
            <a:r>
              <a:rPr lang="pl-PL" sz="2400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detekcja gatunków (klasyfikacja po detekcji)</a:t>
            </a:r>
            <a:endParaRPr lang="pl-PL" sz="2400">
              <a:solidFill>
                <a:schemeClr val="tx1">
                  <a:alpha val="5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230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2F48DC4-6E5C-749A-50A0-03818B828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Podsumowanie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D1A22CC-0817-7A93-2781-EAEE3B654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8980"/>
            <a:ext cx="10515600" cy="4237983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pl-PL">
                <a:ea typeface="+mn-lt"/>
                <a:cs typeface="+mn-lt"/>
              </a:rPr>
              <a:t>Zbudowaliśmy kompletny pipeline do </a:t>
            </a:r>
            <a:r>
              <a:rPr lang="pl-PL" b="1">
                <a:ea typeface="+mn-lt"/>
                <a:cs typeface="+mn-lt"/>
              </a:rPr>
              <a:t>jednoklasowej detekcji zwierząt</a:t>
            </a:r>
            <a:r>
              <a:rPr lang="pl-PL">
                <a:ea typeface="+mn-lt"/>
                <a:cs typeface="+mn-lt"/>
              </a:rPr>
              <a:t> na danych ENA24</a:t>
            </a:r>
            <a:endParaRPr lang="pl-PL"/>
          </a:p>
          <a:p>
            <a:r>
              <a:rPr lang="pl-PL">
                <a:ea typeface="+mn-lt"/>
                <a:cs typeface="+mn-lt"/>
              </a:rPr>
              <a:t>baseline = sliding window</a:t>
            </a:r>
          </a:p>
          <a:p>
            <a:r>
              <a:rPr lang="pl-PL" sz="2600">
                <a:ea typeface="+mn-lt"/>
                <a:cs typeface="+mn-lt"/>
              </a:rPr>
              <a:t>wczytywanie COCO, anti-leak split, YOLOv8n, wspólne metryki</a:t>
            </a:r>
            <a:endParaRPr lang="pl-PL">
              <a:ea typeface="+mn-lt"/>
              <a:cs typeface="+mn-lt"/>
            </a:endParaRPr>
          </a:p>
          <a:p>
            <a:r>
              <a:rPr lang="pl-PL">
                <a:ea typeface="+mn-lt"/>
                <a:cs typeface="+mn-lt"/>
              </a:rPr>
              <a:t>random split zawyżał wyniki przez podobne zdjęcia z tych samych sekwencji</a:t>
            </a:r>
            <a:endParaRPr lang="pl-PL"/>
          </a:p>
          <a:p>
            <a:r>
              <a:rPr lang="pl-PL">
                <a:ea typeface="+mn-lt"/>
                <a:cs typeface="+mn-lt"/>
              </a:rPr>
              <a:t>Finalny wynik YOLOv8n na no-leak test set: 94% zwierząt jest wykrywana</a:t>
            </a:r>
            <a:endParaRPr lang="pl-PL"/>
          </a:p>
          <a:p>
            <a:r>
              <a:rPr lang="pl-PL">
                <a:ea typeface="+mn-lt"/>
                <a:cs typeface="+mn-lt"/>
              </a:rPr>
              <a:t>model częściej pomija trudne zwierzęta niż generuje fałszywe detekcje ale też zaznacza obiekty bardzo widoczne mimo że nie są zwierzętami</a:t>
            </a:r>
            <a:endParaRPr lang="pl-PL"/>
          </a:p>
          <a:p>
            <a:pPr marL="0" indent="0">
              <a:buNone/>
            </a:pPr>
            <a:endParaRPr lang="pl-PL">
              <a:ea typeface="+mn-lt"/>
              <a:cs typeface="+mn-lt"/>
            </a:endParaRPr>
          </a:p>
          <a:p>
            <a:pPr marL="0" indent="0">
              <a:buNone/>
            </a:pPr>
            <a:r>
              <a:rPr lang="pl-PL">
                <a:ea typeface="+mn-lt"/>
                <a:cs typeface="+mn-lt"/>
              </a:rPr>
              <a:t>Dalszy rozwój:</a:t>
            </a:r>
            <a:endParaRPr lang="pl-PL"/>
          </a:p>
          <a:p>
            <a:r>
              <a:rPr lang="pl-PL">
                <a:ea typeface="+mn-lt"/>
                <a:cs typeface="+mn-lt"/>
              </a:rPr>
              <a:t>mocniejsze detektory, klasyfikacja gatunków, dokładniejsza ewaluacja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4698254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Motyw pakietu Office</vt:lpstr>
      <vt:lpstr>Animal Detection in Camera Trap Images </vt:lpstr>
      <vt:lpstr>Przypomnienie tematu projektu</vt:lpstr>
      <vt:lpstr>Baseline </vt:lpstr>
      <vt:lpstr>PowerPoint Presentation</vt:lpstr>
      <vt:lpstr>Data leak w początkowym stadium projektu</vt:lpstr>
      <vt:lpstr>Przykład:</vt:lpstr>
      <vt:lpstr>Co zrobiliśmy:</vt:lpstr>
      <vt:lpstr>Rezultat</vt:lpstr>
      <vt:lpstr>PowerPoint Presentation</vt:lpstr>
      <vt:lpstr>YOLOv8n</vt:lpstr>
      <vt:lpstr>Różnice</vt:lpstr>
      <vt:lpstr>PowerPoint Presentation</vt:lpstr>
      <vt:lpstr>Problemy z Yolo</vt:lpstr>
      <vt:lpstr>Możliwe usprawnienia</vt:lpstr>
      <vt:lpstr>Podsumowanie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356</cp:revision>
  <dcterms:created xsi:type="dcterms:W3CDTF">2026-06-02T15:12:13Z</dcterms:created>
  <dcterms:modified xsi:type="dcterms:W3CDTF">2026-06-16T16:42:38Z</dcterms:modified>
</cp:coreProperties>
</file>